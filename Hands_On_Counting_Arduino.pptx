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Sketch dan header harus satu folder. SDA2/SCL3, MPU6050 0x68; lanjutkan setup Chapter 3. Jika memakai USB, stepping di tempat dan beri label sesuai aktivitas. Reset sebelum setiap percobaan. Hitungan ini estimasi kandidat langkah, bukan ground truth. Belum diuji pada kit fisik.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median 3 detik diam. Puncak sebelumnya dikonfirmasi dengan sampel berikutnya. τ_min adalah interval minimum antara dua puncak diterima. Potongan di slide hanya pemakaian class; implementasi lengkap ada pada StepDetector.h. Ubah satu parameter per percobaan, catat false positive/negative. Jangan mengklaim akurasi dari sinyal sintetis.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Password exilir12345. Counter diproses di ESP32 target50Hz; tampilan HP diperbarui sekitar1detik. Start mereset count; Stop mempertahankan sampai Start/reset berikutnya. Metadata berisi steps, threshold, baseline dan gap. CSV tetap kanal sensor untuk analisis ulang. Default23detik=3baseline+20aktivitas; samakan interval referensi. Data hilang saat mati/reset. Koneksi power bank dan Wi-Fi masih perlu pengujian fisik. Panduan: lab/Exilir_Step_Counter/README.md.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Lab 9 • Hitung langkah langsung di ESP32</a:t>
            </a:r>
          </a:p>
        </p:txBody>
      </p:sp>
      <p:sp>
        <p:nvSpPr>
          <p:cNvPr id="4" name="TextBox 3"/>
          <p:cNvSpPr txBox="1"/>
          <p:nvPr/>
        </p:nvSpPr>
        <p:spPr>
          <a:xfrm>
            <a:off x="640080" y="1965960"/>
            <a:ext cx="10789920" cy="4023360"/>
          </a:xfrm>
          <a:prstGeom prst="rect">
            <a:avLst/>
          </a:prstGeom>
          <a:noFill/>
        </p:spPr>
        <p:txBody>
          <a:bodyPr wrap="square" lIns="0" rIns="0" tIns="0" bIns="0">
            <a:spAutoFit/>
          </a:bodyPr>
          <a:lstStyle/>
          <a:p>
            <a:pPr>
              <a:spcAft>
                <a:spcPts val="1200"/>
              </a:spcAft>
              <a:defRPr sz="2500" b="0">
                <a:solidFill>
                  <a:srgbClr val="162C40"/>
                </a:solidFill>
                <a:latin typeface="Aptos"/>
              </a:defRPr>
            </a:pPr>
            <a:r>
              <a:t>• Upload Exilir_Step_Counter; buka Serial Monitor 115200.</a:t>
            </a:r>
          </a:p>
          <a:p>
            <a:pPr>
              <a:spcAft>
                <a:spcPts val="1200"/>
              </a:spcAft>
              <a:defRPr sz="2500" b="0">
                <a:solidFill>
                  <a:srgbClr val="162C40"/>
                </a:solidFill>
                <a:latin typeface="Aptos"/>
              </a:defRPr>
            </a:pPr>
            <a:r>
              <a:t>• Kirim r → diam 3 detik → lakukan 20 langkah / stepping.</a:t>
            </a:r>
          </a:p>
          <a:p>
            <a:pPr>
              <a:spcAft>
                <a:spcPts val="1200"/>
              </a:spcAft>
              <a:defRPr sz="2500" b="0">
                <a:solidFill>
                  <a:srgbClr val="162C40"/>
                </a:solidFill>
                <a:latin typeface="Aptos"/>
              </a:defRPr>
            </a:pPr>
            <a:r>
              <a:t>• Bandingkan kolom steps dengan hitungan pasangan.</a:t>
            </a:r>
          </a:p>
          <a:p>
            <a:pPr>
              <a:spcAft>
                <a:spcPts val="1200"/>
              </a:spcAft>
              <a:defRPr sz="2500" b="0">
                <a:solidFill>
                  <a:srgbClr val="162C40"/>
                </a:solidFill>
                <a:latin typeface="Aptos"/>
              </a:defRPr>
            </a:pPr>
            <a:r>
              <a:t>• Gyroscope tidak dipakai; parameter ada di StepDetector.h.</a:t>
            </a:r>
          </a:p>
        </p:txBody>
      </p:sp>
      <p:sp>
        <p:nvSpPr>
          <p:cNvPr id="5" name="TextBox 4"/>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01 • Panduan lengkap: lab/README.md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Lab 10 • Aturan threshold dalam kode</a:t>
            </a:r>
          </a:p>
        </p:txBody>
      </p:sp>
      <p:sp>
        <p:nvSpPr>
          <p:cNvPr id="4" name="TextBox 3"/>
          <p:cNvSpPr txBox="1"/>
          <p:nvPr/>
        </p:nvSpPr>
        <p:spPr>
          <a:xfrm>
            <a:off x="594360" y="1828800"/>
            <a:ext cx="10881360" cy="2240280"/>
          </a:xfrm>
          <a:prstGeom prst="rect">
            <a:avLst/>
          </a:prstGeom>
          <a:noFill/>
        </p:spPr>
        <p:txBody>
          <a:bodyPr wrap="square" lIns="0" rIns="0" tIns="0" bIns="0">
            <a:spAutoFit/>
          </a:bodyPr>
          <a:lstStyle/>
          <a:p>
            <a:pPr>
              <a:spcAft>
                <a:spcPts val="1200"/>
              </a:spcAft>
              <a:defRPr sz="2000" b="0">
                <a:solidFill>
                  <a:srgbClr val="162C40"/>
                </a:solidFill>
                <a:latin typeface="Aptos"/>
              </a:defRPr>
            </a:pPr>
            <a:r>
              <a:t>• Magnitude → moving average 5 sampel → kurangi baseline.</a:t>
            </a:r>
          </a:p>
          <a:p>
            <a:pPr>
              <a:spcAft>
                <a:spcPts val="1200"/>
              </a:spcAft>
              <a:defRPr sz="2000" b="0">
                <a:solidFill>
                  <a:srgbClr val="162C40"/>
                </a:solidFill>
                <a:latin typeface="Aptos"/>
              </a:defRPr>
            </a:pPr>
            <a:r>
              <a:t>• Terima puncak lokal &gt; 1,2 m/s² dengan jeda ≥300 ms.</a:t>
            </a:r>
          </a:p>
          <a:p>
            <a:pPr>
              <a:spcAft>
                <a:spcPts val="1200"/>
              </a:spcAft>
              <a:defRPr sz="2000" b="0">
                <a:solidFill>
                  <a:srgbClr val="162C40"/>
                </a:solidFill>
                <a:latin typeface="Aptos"/>
              </a:defRPr>
            </a:pPr>
            <a:r>
              <a:t>• Sinyal harus turun &lt;0,3 m/s² sebelum kandidat berikutnya.</a:t>
            </a:r>
          </a:p>
          <a:p>
            <a:pPr>
              <a:spcAft>
                <a:spcPts val="1200"/>
              </a:spcAft>
              <a:defRPr sz="2000" b="0">
                <a:solidFill>
                  <a:srgbClr val="162C40"/>
                </a:solidFill>
                <a:latin typeface="Aptos"/>
              </a:defRPr>
            </a:pPr>
            <a:r>
              <a:t>• Coba threshold 0,8 / 1,2 / 1,8; uji sesi baru.</a:t>
            </a:r>
          </a:p>
        </p:txBody>
      </p:sp>
      <p:sp>
        <p:nvSpPr>
          <p:cNvPr id="5" name="TextBox 4"/>
          <p:cNvSpPr txBox="1"/>
          <p:nvPr/>
        </p:nvSpPr>
        <p:spPr>
          <a:xfrm>
            <a:off x="731520" y="4206240"/>
            <a:ext cx="10881360" cy="2103120"/>
          </a:xfrm>
          <a:prstGeom prst="rect">
            <a:avLst/>
          </a:prstGeom>
          <a:noFill/>
        </p:spPr>
        <p:txBody>
          <a:bodyPr wrap="square" lIns="0" rIns="0" tIns="0" bIns="0">
            <a:spAutoFit/>
          </a:bodyPr>
          <a:lstStyle/>
          <a:p>
            <a:pPr>
              <a:spcAft>
                <a:spcPts val="1200"/>
              </a:spcAft>
              <a:defRPr sz="1500" b="0">
                <a:solidFill>
                  <a:srgbClr val="147D92"/>
                </a:solidFill>
                <a:latin typeface="Consolas"/>
              </a:defRPr>
            </a:pPr>
            <a:r>
              <a:t>bool accepted = detector.update(t_ms, ax, ay, az);</a:t>
            </a:r>
          </a:p>
          <a:p>
            <a:pPr>
              <a:spcAft>
                <a:spcPts val="1200"/>
              </a:spcAft>
              <a:defRPr sz="1500" b="0">
                <a:solidFill>
                  <a:srgbClr val="147D92"/>
                </a:solidFill>
                <a:latin typeface="Consolas"/>
              </a:defRPr>
            </a:pPr>
            <a:r>
              <a:t>// di dalam detector: peak + threshold + hysteresis + jeda</a:t>
            </a:r>
          </a:p>
          <a:p>
            <a:pPr>
              <a:spcAft>
                <a:spcPts val="1200"/>
              </a:spcAft>
              <a:defRPr sz="1500" b="0">
                <a:solidFill>
                  <a:srgbClr val="147D92"/>
                </a:solidFill>
                <a:latin typeface="Consolas"/>
              </a:defRPr>
            </a:pPr>
            <a:r>
              <a:t>Serial.println(detector.count);</a:t>
            </a:r>
          </a:p>
          <a:p>
            <a:pPr>
              <a:spcAft>
                <a:spcPts val="1200"/>
              </a:spcAft>
              <a:defRPr sz="1500" b="0">
                <a:solidFill>
                  <a:srgbClr val="147D92"/>
                </a:solidFill>
                <a:latin typeface="Consolas"/>
              </a:defRPr>
            </a:pPr>
            <a:r>
              <a:t>// reset sesi: detector.reset(); mulai ulang t_ms dari 0</a:t>
            </a:r>
          </a:p>
        </p:txBody>
      </p:sp>
      <p:sp>
        <p:nvSpPr>
          <p:cNvPr id="6" name="TextBox 5"/>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02 • Panduan lengkap: lab/README.md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8FA"/>
        </a:solidFill>
        <a:effectLst/>
      </p:bgPr>
    </p:bg>
    <p:spTree>
      <p:nvGrpSpPr>
        <p:cNvPr id="1" name=""/>
        <p:cNvGrpSpPr/>
        <p:nvPr/>
      </p:nvGrpSpPr>
      <p:grpSpPr/>
      <p:sp>
        <p:nvSpPr>
          <p:cNvPr id="2" name="TextBox 1"/>
          <p:cNvSpPr txBox="1"/>
          <p:nvPr/>
        </p:nvSpPr>
        <p:spPr>
          <a:xfrm>
            <a:off x="548640" y="320040"/>
            <a:ext cx="10972800" cy="274320"/>
          </a:xfrm>
          <a:prstGeom prst="rect">
            <a:avLst/>
          </a:prstGeom>
          <a:noFill/>
        </p:spPr>
        <p:txBody>
          <a:bodyPr wrap="square" lIns="0" rIns="0" tIns="0" bIns="0">
            <a:spAutoFit/>
          </a:bodyPr>
          <a:lstStyle/>
          <a:p>
            <a:pPr>
              <a:spcAft>
                <a:spcPts val="1200"/>
              </a:spcAft>
              <a:defRPr sz="1100" b="1">
                <a:solidFill>
                  <a:srgbClr val="147D92"/>
                </a:solidFill>
                <a:latin typeface="Aptos"/>
              </a:defRPr>
            </a:pPr>
            <a:r>
              <a:t>HANDS-ON LAB • CHAPTER 4</a:t>
            </a:r>
          </a:p>
        </p:txBody>
      </p:sp>
      <p:sp>
        <p:nvSpPr>
          <p:cNvPr id="3" name="TextBox 2"/>
          <p:cNvSpPr txBox="1"/>
          <p:nvPr/>
        </p:nvSpPr>
        <p:spPr>
          <a:xfrm>
            <a:off x="548640" y="822960"/>
            <a:ext cx="11064240" cy="868680"/>
          </a:xfrm>
          <a:prstGeom prst="rect">
            <a:avLst/>
          </a:prstGeom>
          <a:noFill/>
        </p:spPr>
        <p:txBody>
          <a:bodyPr wrap="square" lIns="0" rIns="0" tIns="0" bIns="0">
            <a:spAutoFit/>
          </a:bodyPr>
          <a:lstStyle/>
          <a:p>
            <a:pPr>
              <a:spcAft>
                <a:spcPts val="1200"/>
              </a:spcAft>
              <a:defRPr sz="2900" b="1">
                <a:solidFill>
                  <a:srgbClr val="162C40"/>
                </a:solidFill>
                <a:latin typeface="Aptos"/>
              </a:defRPr>
            </a:pPr>
            <a:r>
              <a:t>Lab 11 • Counter + CSV dari handphone</a:t>
            </a:r>
          </a:p>
        </p:txBody>
      </p:sp>
      <p:sp>
        <p:nvSpPr>
          <p:cNvPr id="4" name="TextBox 3"/>
          <p:cNvSpPr txBox="1"/>
          <p:nvPr/>
        </p:nvSpPr>
        <p:spPr>
          <a:xfrm>
            <a:off x="640080" y="1965960"/>
            <a:ext cx="10789920" cy="4023360"/>
          </a:xfrm>
          <a:prstGeom prst="rect">
            <a:avLst/>
          </a:prstGeom>
          <a:noFill/>
        </p:spPr>
        <p:txBody>
          <a:bodyPr wrap="square" lIns="0" rIns="0" tIns="0" bIns="0">
            <a:spAutoFit/>
          </a:bodyPr>
          <a:lstStyle/>
          <a:p>
            <a:pPr>
              <a:spcAft>
                <a:spcPts val="1200"/>
              </a:spcAft>
              <a:defRPr sz="2500" b="0">
                <a:solidFill>
                  <a:srgbClr val="162C40"/>
                </a:solidFill>
                <a:latin typeface="Aptos"/>
              </a:defRPr>
            </a:pPr>
            <a:r>
              <a:t>• Upload Exilir_SoftAP_Logger; nyalakan dengan power bank.</a:t>
            </a:r>
          </a:p>
          <a:p>
            <a:pPr>
              <a:spcAft>
                <a:spcPts val="1200"/>
              </a:spcAft>
              <a:defRPr sz="2500" b="0">
                <a:solidFill>
                  <a:srgbClr val="162C40"/>
                </a:solidFill>
                <a:latin typeface="Aptos"/>
              </a:defRPr>
            </a:pPr>
            <a:r>
              <a:t>• Wi-Fi Exilir-IMU-XXXX → buka http://192.168.4.1.</a:t>
            </a:r>
          </a:p>
          <a:p>
            <a:pPr>
              <a:spcAft>
                <a:spcPts val="1200"/>
              </a:spcAft>
              <a:defRPr sz="2500" b="0">
                <a:solidFill>
                  <a:srgbClr val="162C40"/>
                </a:solidFill>
                <a:latin typeface="Aptos"/>
              </a:defRPr>
            </a:pPr>
            <a:r>
              <a:t>• Start → diam 3 detik → bergerak → Stop → unduh CSV + metadata.</a:t>
            </a:r>
          </a:p>
          <a:p>
            <a:pPr>
              <a:spcAft>
                <a:spcPts val="1200"/>
              </a:spcAft>
              <a:defRPr sz="2500" b="0">
                <a:solidFill>
                  <a:srgbClr val="162C40"/>
                </a:solidFill>
                <a:latin typeface="Aptos"/>
              </a:defRPr>
            </a:pPr>
            <a:r>
              <a:t>• Catat hitungan HP, manual, dan hasil Python; jelaskan selisih.</a:t>
            </a:r>
          </a:p>
        </p:txBody>
      </p:sp>
      <p:sp>
        <p:nvSpPr>
          <p:cNvPr id="5" name="TextBox 4"/>
          <p:cNvSpPr txBox="1"/>
          <p:nvPr/>
        </p:nvSpPr>
        <p:spPr>
          <a:xfrm>
            <a:off x="548640" y="6464808"/>
            <a:ext cx="10972800" cy="228600"/>
          </a:xfrm>
          <a:prstGeom prst="rect">
            <a:avLst/>
          </a:prstGeom>
          <a:noFill/>
        </p:spPr>
        <p:txBody>
          <a:bodyPr wrap="square" lIns="0" rIns="0" tIns="0" bIns="0">
            <a:spAutoFit/>
          </a:bodyPr>
          <a:lstStyle/>
          <a:p>
            <a:pPr>
              <a:spcAft>
                <a:spcPts val="1200"/>
              </a:spcAft>
              <a:defRPr sz="1000" b="0">
                <a:solidFill>
                  <a:srgbClr val="657786"/>
                </a:solidFill>
                <a:latin typeface="Aptos"/>
              </a:defRPr>
            </a:pPr>
            <a:r>
              <a:t>EXILIR • AIoT BASIC | 03 • Panduan lengkap: lab/README.md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