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memakai firmware USB sederhana. Untuk setup bertambat lakukan stepping di tempat dan beri label sesuai aktivitas aktual. Jalan di lintasan bebas menjadi latihan setelah logger nirkabel tersedia. Tidak melakukan training ML dalam lab ini.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Referensi: Chapter_3/Baca_IMU_Library. Kode sebelumnya mencampur nama MPU6500/MPU6050. Sketch ini secara eksplisit untuk MPU6050; jika sensor berbeda, gunakan driver yang benar. Baud 115200. Matikan Serial Monitor saat logger Python memakai port. Compile diuji terpisah dari upload; belum uji hardware.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Adafruit menghasilkan akselerasi dalam m/s² dan kecepatan rotasi dalam rad/s. Timestamp dibuat di perangkat pada awal pembacaan. Polling tetap memiliki jitter, sehingga interval aktual harus diperiksa. Snippet adalah konfigurasi; gunakan sketch lengkap untuk setup dan loop.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potongan inti, bukan sketch mandiri; penjadwalan dan penanda BEGIN/ACTIVITY/END ada di file .ino lengkap. Header: timestamp,accX,accY,accZ,gyroX,gyroY,gyroZ. Serial.print menulis kanal lainnya dalam sketch lengkap. Timestamp dari micros() dikonversi menjadi milidetik relatif.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Pasang dependensi sekali sebelum kelas. Script mengirim s secara otomatis. Cue terminal memiliki latensi USB dan reaksi pengamat. Untuk referensi waktu yang presisi gunakan video tersinkron. Contoh ini memakai stepping_in_place, karena firmware USB masih bertambat.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CSV aktivitas membuang bagian baseline dan mengembalikan timestamp awal ke nol; cocok untuk latihan import berikutnya setelah timing diperiksa. Label tidak menjadi kolom numerik sensor. Jangan menganalisis .activity.csv dengan analyzer baseline. Frekuensi nyata dihitung dari selisih timestamp; logger menandai interval di luar 18–22 ms. Satuan dan kanal harus tetap konsisten.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Ganti 40 dengan hitungan aktual pengamat. Analisis menghasilkan count dan error relatif jika reference &gt;0. Untuk reference 0 gunakan false steps/menit. Analyzer menolak timestamp terlalu tidak teratur; periksa logger, jangan memaksa lanjut. Kelima sampel filtering pada 50Hz setara jendela100ms; ada delay yang perlu dipahami.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Jika melakukan jalan di lintasan dengan setup yang memadai, ganti label stepping menjadi walking; jangan menyamakan kedua domain. Jangan membandingkan parameter hanya pada satu rekaman. Gunakan template_hasil.csv untuk jumlah manual/prediksi dan konfigurasi. Untuk goyangan setelah sensor dilepas, posisi menjadi hand; metadata harus mencerminkannya.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Kriteria: data lengkap, timestamp masuk akal, baseline benar-benar diam, hitungan pada interval sama, set uji tidak dipakai untuk tuning. Tidak menetapkan persentase akurasi universal. Peserta harus menjelaskan alasan salah hitung; ML adalah hipotesis perbaikan yang perlu diuji, bukan jawaban otomatis.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masih rancangan pengembangan, bukan firmware Wi-Fi siap pakai. Sketch lab USB tidak menyimpan data ketika hanya diberi power bank. Pisahkan akuisisi dari jaringan, deteksi buffer overflow dan paket hilang/duplikat. Uji end-to-end sebelum berjalan bebas. Di sesi selanjutnya file aktivitas yang sudah diperiksa dapat diimpor ke Edge Impulse.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Hands-on lab: dari IMU ke hitungan langkah</a:t>
            </a:r>
          </a:p>
        </p:txBody>
      </p:sp>
      <p:sp>
        <p:nvSpPr>
          <p:cNvPr id="4" name="TextBox 3"/>
          <p:cNvSpPr txBox="1"/>
          <p:nvPr/>
        </p:nvSpPr>
        <p:spPr>
          <a:xfrm>
            <a:off x="640080" y="1965960"/>
            <a:ext cx="10789920" cy="4023360"/>
          </a:xfrm>
          <a:prstGeom prst="rect">
            <a:avLst/>
          </a:prstGeom>
          <a:noFill/>
        </p:spPr>
        <p:txBody>
          <a:bodyPr wrap="square" lIns="0" rIns="0" tIns="0" bIns="0">
            <a:spAutoFit/>
          </a:bodyPr>
          <a:lstStyle/>
          <a:p>
            <a:pPr>
              <a:spcAft>
                <a:spcPts val="1200"/>
              </a:spcAft>
              <a:defRPr sz="2500" b="0">
                <a:solidFill>
                  <a:srgbClr val="162C40"/>
                </a:solidFill>
                <a:latin typeface="Aptos"/>
              </a:defRPr>
            </a:pPr>
            <a:r>
              <a:t>• Bekerja berpasangan: satu peserta bergerak, satu merekam dan menghitung.</a:t>
            </a:r>
          </a:p>
          <a:p>
            <a:pPr>
              <a:spcAft>
                <a:spcPts val="1200"/>
              </a:spcAft>
              <a:defRPr sz="2500" b="0">
                <a:solidFill>
                  <a:srgbClr val="162C40"/>
                </a:solidFill>
                <a:latin typeface="Aptos"/>
              </a:defRPr>
            </a:pPr>
            <a:r>
              <a:t>• Hasil akhir: CSV + metadata + grafik + tabel evaluasi.</a:t>
            </a:r>
          </a:p>
          <a:p>
            <a:pPr>
              <a:spcAft>
                <a:spcPts val="1200"/>
              </a:spcAft>
              <a:defRPr sz="2500" b="0">
                <a:solidFill>
                  <a:srgbClr val="162C40"/>
                </a:solidFill>
                <a:latin typeface="Aptos"/>
              </a:defRPr>
            </a:pPr>
            <a:r>
              <a:t>• Urutan: verifikasi sensor → rekam → plot → deteksi → evaluasi.</a:t>
            </a:r>
          </a:p>
          <a:p>
            <a:pPr>
              <a:spcAft>
                <a:spcPts val="1200"/>
              </a:spcAft>
              <a:defRPr sz="2500" b="0">
                <a:solidFill>
                  <a:srgbClr val="162C40"/>
                </a:solidFill>
                <a:latin typeface="Aptos"/>
              </a:defRPr>
            </a:pPr>
            <a:r>
              <a:t>• Alokasi 45–60 menit; siapkan Python dan Arduino sebelum kelas.</a:t>
            </a:r>
          </a:p>
        </p:txBody>
      </p:sp>
      <p:sp>
        <p:nvSpPr>
          <p:cNvPr id="5" name="TextBox 4"/>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01 • Panduan lengkap: lab/README.md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Lab 1 • Lanjutkan kode pembacaan IMU Chapter 3</a:t>
            </a:r>
          </a:p>
        </p:txBody>
      </p:sp>
      <p:sp>
        <p:nvSpPr>
          <p:cNvPr id="4" name="TextBox 3"/>
          <p:cNvSpPr txBox="1"/>
          <p:nvPr/>
        </p:nvSpPr>
        <p:spPr>
          <a:xfrm>
            <a:off x="640080" y="1965960"/>
            <a:ext cx="10789920" cy="4023360"/>
          </a:xfrm>
          <a:prstGeom prst="rect">
            <a:avLst/>
          </a:prstGeom>
          <a:noFill/>
        </p:spPr>
        <p:txBody>
          <a:bodyPr wrap="square" lIns="0" rIns="0" tIns="0" bIns="0">
            <a:spAutoFit/>
          </a:bodyPr>
          <a:lstStyle/>
          <a:p>
            <a:pPr>
              <a:spcAft>
                <a:spcPts val="1200"/>
              </a:spcAft>
              <a:defRPr sz="2500" b="0">
                <a:solidFill>
                  <a:srgbClr val="162C40"/>
                </a:solidFill>
                <a:latin typeface="Aptos"/>
              </a:defRPr>
            </a:pPr>
            <a:r>
              <a:t>• Sketch baru: lab/Exilir_IMU_Logger/Exilir_IMU_Logger.ino</a:t>
            </a:r>
          </a:p>
          <a:p>
            <a:pPr>
              <a:spcAft>
                <a:spcPts val="1200"/>
              </a:spcAft>
              <a:defRPr sz="2500" b="0">
                <a:solidFill>
                  <a:srgbClr val="162C40"/>
                </a:solidFill>
                <a:latin typeface="Aptos"/>
              </a:defRPr>
            </a:pPr>
            <a:r>
              <a:t>• ESP32-C5, SDA GPIO2, SCL GPIO3, alamat 0x68 sesuai proyek.</a:t>
            </a:r>
          </a:p>
          <a:p>
            <a:pPr>
              <a:spcAft>
                <a:spcPts val="1200"/>
              </a:spcAft>
              <a:defRPr sz="2500" b="0">
                <a:solidFill>
                  <a:srgbClr val="162C40"/>
                </a:solidFill>
                <a:latin typeface="Aptos"/>
              </a:defRPr>
            </a:pPr>
            <a:r>
              <a:t>• Install Adafruit MPU6050, Unified Sensor, dan BusIO.</a:t>
            </a:r>
          </a:p>
          <a:p>
            <a:pPr>
              <a:spcAft>
                <a:spcPts val="1200"/>
              </a:spcAft>
              <a:defRPr sz="2500" b="0">
                <a:solidFill>
                  <a:srgbClr val="162C40"/>
                </a:solidFill>
                <a:latin typeface="Aptos"/>
              </a:defRPr>
            </a:pPr>
            <a:r>
              <a:t>• Pilih board/port aktual, compile lalu upload. WHO_AM_I harus 0x68.</a:t>
            </a:r>
          </a:p>
        </p:txBody>
      </p:sp>
      <p:sp>
        <p:nvSpPr>
          <p:cNvPr id="5" name="TextBox 4"/>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02 • Panduan lengkap: lab/README.md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Lab 2 • Konfigurasi akuisisi yang konsisten</a:t>
            </a:r>
          </a:p>
        </p:txBody>
      </p:sp>
      <p:sp>
        <p:nvSpPr>
          <p:cNvPr id="4" name="TextBox 3"/>
          <p:cNvSpPr txBox="1"/>
          <p:nvPr/>
        </p:nvSpPr>
        <p:spPr>
          <a:xfrm>
            <a:off x="594360" y="1828800"/>
            <a:ext cx="10881360" cy="2240280"/>
          </a:xfrm>
          <a:prstGeom prst="rect">
            <a:avLst/>
          </a:prstGeom>
          <a:noFill/>
        </p:spPr>
        <p:txBody>
          <a:bodyPr wrap="square" lIns="0" rIns="0" tIns="0" bIns="0">
            <a:spAutoFit/>
          </a:bodyPr>
          <a:lstStyle/>
          <a:p>
            <a:pPr>
              <a:spcAft>
                <a:spcPts val="1200"/>
              </a:spcAft>
              <a:defRPr sz="2000" b="0">
                <a:solidFill>
                  <a:srgbClr val="162C40"/>
                </a:solidFill>
                <a:latin typeface="Aptos"/>
              </a:defRPr>
            </a:pPr>
            <a:r>
              <a:t>• Target 50 Hz; pembacaan tiap 20 ms.</a:t>
            </a:r>
          </a:p>
          <a:p>
            <a:pPr>
              <a:spcAft>
                <a:spcPts val="1200"/>
              </a:spcAft>
              <a:defRPr sz="2000" b="0">
                <a:solidFill>
                  <a:srgbClr val="162C40"/>
                </a:solidFill>
                <a:latin typeface="Aptos"/>
              </a:defRPr>
            </a:pPr>
            <a:r>
              <a:t>• Rentang ±8 g; filter hardware 10 Hz.</a:t>
            </a:r>
          </a:p>
          <a:p>
            <a:pPr>
              <a:spcAft>
                <a:spcPts val="1200"/>
              </a:spcAft>
              <a:defRPr sz="2000" b="0">
                <a:solidFill>
                  <a:srgbClr val="162C40"/>
                </a:solidFill>
                <a:latin typeface="Aptos"/>
              </a:defRPr>
            </a:pPr>
            <a:r>
              <a:t>• Rekam akselerasi dan gyro; detector awal memakai akselerasi.</a:t>
            </a:r>
          </a:p>
          <a:p>
            <a:pPr>
              <a:spcAft>
                <a:spcPts val="1200"/>
              </a:spcAft>
              <a:defRPr sz="2000" b="0">
                <a:solidFill>
                  <a:srgbClr val="162C40"/>
                </a:solidFill>
                <a:latin typeface="Aptos"/>
              </a:defRPr>
            </a:pPr>
            <a:r>
              <a:t>• Saat diam: magnitude sekitar 9,81 m/s²; gyro sekitar nol.</a:t>
            </a:r>
          </a:p>
        </p:txBody>
      </p:sp>
      <p:sp>
        <p:nvSpPr>
          <p:cNvPr id="5" name="TextBox 4"/>
          <p:cNvSpPr txBox="1"/>
          <p:nvPr/>
        </p:nvSpPr>
        <p:spPr>
          <a:xfrm>
            <a:off x="731520" y="4206240"/>
            <a:ext cx="10881360" cy="2103120"/>
          </a:xfrm>
          <a:prstGeom prst="rect">
            <a:avLst/>
          </a:prstGeom>
          <a:noFill/>
        </p:spPr>
        <p:txBody>
          <a:bodyPr wrap="square" lIns="0" rIns="0" tIns="0" bIns="0">
            <a:spAutoFit/>
          </a:bodyPr>
          <a:lstStyle/>
          <a:p>
            <a:pPr>
              <a:spcAft>
                <a:spcPts val="1200"/>
              </a:spcAft>
              <a:defRPr sz="1500" b="0">
                <a:solidFill>
                  <a:srgbClr val="147D92"/>
                </a:solidFill>
                <a:latin typeface="Consolas"/>
              </a:defRPr>
            </a:pPr>
            <a:r>
              <a:t>Wire.begin(2, 3);</a:t>
            </a:r>
          </a:p>
          <a:p>
            <a:pPr>
              <a:spcAft>
                <a:spcPts val="1200"/>
              </a:spcAft>
              <a:defRPr sz="1500" b="0">
                <a:solidFill>
                  <a:srgbClr val="147D92"/>
                </a:solidFill>
                <a:latin typeface="Consolas"/>
              </a:defRPr>
            </a:pPr>
            <a:r>
              <a:t>mpu.begin(0x68, &amp;Wire);</a:t>
            </a:r>
          </a:p>
          <a:p>
            <a:pPr>
              <a:spcAft>
                <a:spcPts val="1200"/>
              </a:spcAft>
              <a:defRPr sz="1500" b="0">
                <a:solidFill>
                  <a:srgbClr val="147D92"/>
                </a:solidFill>
                <a:latin typeface="Consolas"/>
              </a:defRPr>
            </a:pPr>
            <a:r>
              <a:t>mpu.setAccelerometerRange(MPU6050_RANGE_8_G);</a:t>
            </a:r>
          </a:p>
          <a:p>
            <a:pPr>
              <a:spcAft>
                <a:spcPts val="1200"/>
              </a:spcAft>
              <a:defRPr sz="1500" b="0">
                <a:solidFill>
                  <a:srgbClr val="147D92"/>
                </a:solidFill>
                <a:latin typeface="Consolas"/>
              </a:defRPr>
            </a:pPr>
            <a:r>
              <a:t>mpu.setGyroRange(MPU6050_RANGE_500_DEG);</a:t>
            </a:r>
          </a:p>
          <a:p>
            <a:pPr>
              <a:spcAft>
                <a:spcPts val="1200"/>
              </a:spcAft>
              <a:defRPr sz="1500" b="0">
                <a:solidFill>
                  <a:srgbClr val="147D92"/>
                </a:solidFill>
                <a:latin typeface="Consolas"/>
              </a:defRPr>
            </a:pPr>
            <a:r>
              <a:t>mpu.setFilterBandwidth(MPU6050_BAND_10_HZ);</a:t>
            </a:r>
          </a:p>
        </p:txBody>
      </p:sp>
      <p:sp>
        <p:nvSpPr>
          <p:cNvPr id="6" name="TextBox 5"/>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03 • Panduan lengkap: lab/README.md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Lab 3 • Apa yang dilakukan loop logger?</a:t>
            </a:r>
          </a:p>
        </p:txBody>
      </p:sp>
      <p:sp>
        <p:nvSpPr>
          <p:cNvPr id="4" name="TextBox 3"/>
          <p:cNvSpPr txBox="1"/>
          <p:nvPr/>
        </p:nvSpPr>
        <p:spPr>
          <a:xfrm>
            <a:off x="594360" y="1828800"/>
            <a:ext cx="10881360" cy="2240280"/>
          </a:xfrm>
          <a:prstGeom prst="rect">
            <a:avLst/>
          </a:prstGeom>
          <a:noFill/>
        </p:spPr>
        <p:txBody>
          <a:bodyPr wrap="square" lIns="0" rIns="0" tIns="0" bIns="0">
            <a:spAutoFit/>
          </a:bodyPr>
          <a:lstStyle/>
          <a:p>
            <a:pPr>
              <a:spcAft>
                <a:spcPts val="1200"/>
              </a:spcAft>
              <a:defRPr sz="2000" b="0">
                <a:solidFill>
                  <a:srgbClr val="162C40"/>
                </a:solidFill>
                <a:latin typeface="Aptos"/>
              </a:defRPr>
            </a:pPr>
            <a:r>
              <a:t>• Tunggu perintah s untuk memulai sesi.</a:t>
            </a:r>
          </a:p>
          <a:p>
            <a:pPr>
              <a:spcAft>
                <a:spcPts val="1200"/>
              </a:spcAft>
              <a:defRPr sz="2000" b="0">
                <a:solidFill>
                  <a:srgbClr val="162C40"/>
                </a:solidFill>
                <a:latin typeface="Aptos"/>
              </a:defRPr>
            </a:pPr>
            <a:r>
              <a:t>• Baca hanya ketika jadwal 20 ms tiba.</a:t>
            </a:r>
          </a:p>
          <a:p>
            <a:pPr>
              <a:spcAft>
                <a:spcPts val="1200"/>
              </a:spcAft>
              <a:defRPr sz="2000" b="0">
                <a:solidFill>
                  <a:srgbClr val="162C40"/>
                </a:solidFill>
                <a:latin typeface="Aptos"/>
              </a:defRPr>
            </a:pPr>
            <a:r>
              <a:t>• Catat timestamp aktual dan keluarkan satu baris CSV.</a:t>
            </a:r>
          </a:p>
          <a:p>
            <a:pPr>
              <a:spcAft>
                <a:spcPts val="1200"/>
              </a:spcAft>
              <a:defRPr sz="2000" b="0">
                <a:solidFill>
                  <a:srgbClr val="162C40"/>
                </a:solidFill>
                <a:latin typeface="Aptos"/>
              </a:defRPr>
            </a:pPr>
            <a:r>
              <a:t>• Akhiri setelah 23 detik; jangan membuat sampel palsu saat terlambat.</a:t>
            </a:r>
          </a:p>
        </p:txBody>
      </p:sp>
      <p:sp>
        <p:nvSpPr>
          <p:cNvPr id="5" name="TextBox 4"/>
          <p:cNvSpPr txBox="1"/>
          <p:nvPr/>
        </p:nvSpPr>
        <p:spPr>
          <a:xfrm>
            <a:off x="731520" y="4206240"/>
            <a:ext cx="10881360" cy="2103120"/>
          </a:xfrm>
          <a:prstGeom prst="rect">
            <a:avLst/>
          </a:prstGeom>
          <a:noFill/>
        </p:spPr>
        <p:txBody>
          <a:bodyPr wrap="square" lIns="0" rIns="0" tIns="0" bIns="0">
            <a:spAutoFit/>
          </a:bodyPr>
          <a:lstStyle/>
          <a:p>
            <a:pPr>
              <a:spcAft>
                <a:spcPts val="1200"/>
              </a:spcAft>
              <a:defRPr sz="1500" b="0">
                <a:solidFill>
                  <a:srgbClr val="147D92"/>
                </a:solidFill>
                <a:latin typeface="Consolas"/>
              </a:defRPr>
            </a:pPr>
            <a:r>
              <a:t>sensors_event_t a, g, temperature;</a:t>
            </a:r>
          </a:p>
          <a:p>
            <a:pPr>
              <a:spcAft>
                <a:spcPts val="1200"/>
              </a:spcAft>
              <a:defRPr sz="1500" b="0">
                <a:solidFill>
                  <a:srgbClr val="147D92"/>
                </a:solidFill>
                <a:latin typeface="Consolas"/>
              </a:defRPr>
            </a:pPr>
            <a:r>
              <a:t>mpu.getEvent(&amp;a, &amp;g, &amp;temperature);</a:t>
            </a:r>
          </a:p>
          <a:p>
            <a:pPr>
              <a:spcAft>
                <a:spcPts val="1200"/>
              </a:spcAft>
              <a:defRPr sz="1500" b="0">
                <a:solidFill>
                  <a:srgbClr val="147D92"/>
                </a:solidFill>
                <a:latin typeface="Consolas"/>
              </a:defRPr>
            </a:pPr>
            <a:r>
              <a:t>float t_ms = (micros() - started) / 1000.0;</a:t>
            </a:r>
          </a:p>
          <a:p>
            <a:pPr>
              <a:spcAft>
                <a:spcPts val="1200"/>
              </a:spcAft>
              <a:defRPr sz="1500" b="0">
                <a:solidFill>
                  <a:srgbClr val="147D92"/>
                </a:solidFill>
                <a:latin typeface="Consolas"/>
              </a:defRPr>
            </a:pPr>
            <a:r>
              <a:t>// satu baris: waktu, ax, ay, az, gx, gy, gz</a:t>
            </a:r>
          </a:p>
          <a:p>
            <a:pPr>
              <a:spcAft>
                <a:spcPts val="1200"/>
              </a:spcAft>
              <a:defRPr sz="1500" b="0">
                <a:solidFill>
                  <a:srgbClr val="147D92"/>
                </a:solidFill>
                <a:latin typeface="Consolas"/>
              </a:defRPr>
            </a:pPr>
            <a:r>
              <a:t>// a.acceleration.x  -&gt; m/s2</a:t>
            </a:r>
          </a:p>
          <a:p>
            <a:pPr>
              <a:spcAft>
                <a:spcPts val="1200"/>
              </a:spcAft>
              <a:defRPr sz="1500" b="0">
                <a:solidFill>
                  <a:srgbClr val="147D92"/>
                </a:solidFill>
                <a:latin typeface="Consolas"/>
              </a:defRPr>
            </a:pPr>
            <a:r>
              <a:t>// g.gyro.x          -&gt; rad/s</a:t>
            </a:r>
          </a:p>
        </p:txBody>
      </p:sp>
      <p:sp>
        <p:nvSpPr>
          <p:cNvPr id="6" name="TextBox 5"/>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04 • Panduan lengkap: lab/README.md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Lab 4 • Simpan rekaman ke CSV di laptop</a:t>
            </a:r>
          </a:p>
        </p:txBody>
      </p:sp>
      <p:sp>
        <p:nvSpPr>
          <p:cNvPr id="4" name="TextBox 3"/>
          <p:cNvSpPr txBox="1"/>
          <p:nvPr/>
        </p:nvSpPr>
        <p:spPr>
          <a:xfrm>
            <a:off x="594360" y="1828800"/>
            <a:ext cx="10881360" cy="2240280"/>
          </a:xfrm>
          <a:prstGeom prst="rect">
            <a:avLst/>
          </a:prstGeom>
          <a:noFill/>
        </p:spPr>
        <p:txBody>
          <a:bodyPr wrap="square" lIns="0" rIns="0" tIns="0" bIns="0">
            <a:spAutoFit/>
          </a:bodyPr>
          <a:lstStyle/>
          <a:p>
            <a:pPr>
              <a:spcAft>
                <a:spcPts val="1200"/>
              </a:spcAft>
              <a:defRPr sz="2000" b="0">
                <a:solidFill>
                  <a:srgbClr val="162C40"/>
                </a:solidFill>
                <a:latin typeface="Aptos"/>
              </a:defRPr>
            </a:pPr>
            <a:r>
              <a:t>• Jalankan perintah dari folder Slide/lab.</a:t>
            </a:r>
          </a:p>
          <a:p>
            <a:pPr>
              <a:spcAft>
                <a:spcPts val="1200"/>
              </a:spcAft>
              <a:defRPr sz="2000" b="0">
                <a:solidFill>
                  <a:srgbClr val="162C40"/>
                </a:solidFill>
                <a:latin typeface="Aptos"/>
              </a:defRPr>
            </a:pPr>
            <a:r>
              <a:t>• Tutup Serial Monitor; ganti COM7 dengan port kit.</a:t>
            </a:r>
          </a:p>
          <a:p>
            <a:pPr>
              <a:spcAft>
                <a:spcPts val="1200"/>
              </a:spcAft>
              <a:defRPr sz="2000" b="0">
                <a:solidFill>
                  <a:srgbClr val="162C40"/>
                </a:solidFill>
                <a:latin typeface="Aptos"/>
              </a:defRPr>
            </a:pPr>
            <a:r>
              <a:t>• DIAM: baseline 3 detik. MULAI: aktivitas dan hitungan 20 detik.</a:t>
            </a:r>
          </a:p>
          <a:p>
            <a:pPr>
              <a:spcAft>
                <a:spcPts val="1200"/>
              </a:spcAft>
              <a:defRPr sz="2000" b="0">
                <a:solidFill>
                  <a:srgbClr val="162C40"/>
                </a:solidFill>
                <a:latin typeface="Aptos"/>
              </a:defRPr>
            </a:pPr>
            <a:r>
              <a:t>• Output disimpan ke folder rekaman; gunakan ID sesi baru.</a:t>
            </a:r>
          </a:p>
        </p:txBody>
      </p:sp>
      <p:sp>
        <p:nvSpPr>
          <p:cNvPr id="5" name="TextBox 4"/>
          <p:cNvSpPr txBox="1"/>
          <p:nvPr/>
        </p:nvSpPr>
        <p:spPr>
          <a:xfrm>
            <a:off x="731520" y="4206240"/>
            <a:ext cx="10881360" cy="2103120"/>
          </a:xfrm>
          <a:prstGeom prst="rect">
            <a:avLst/>
          </a:prstGeom>
          <a:noFill/>
        </p:spPr>
        <p:txBody>
          <a:bodyPr wrap="square" lIns="0" rIns="0" tIns="0" bIns="0">
            <a:spAutoFit/>
          </a:bodyPr>
          <a:lstStyle/>
          <a:p>
            <a:pPr>
              <a:spcAft>
                <a:spcPts val="1200"/>
              </a:spcAft>
              <a:defRPr sz="1500" b="0">
                <a:solidFill>
                  <a:srgbClr val="147D92"/>
                </a:solidFill>
                <a:latin typeface="Consolas"/>
              </a:defRPr>
            </a:pPr>
            <a:r>
              <a:t>python -m pip install -r requirements.txt</a:t>
            </a:r>
          </a:p>
          <a:p>
            <a:pPr>
              <a:spcAft>
                <a:spcPts val="1200"/>
              </a:spcAft>
              <a:defRPr sz="1500" b="0">
                <a:solidFill>
                  <a:srgbClr val="147D92"/>
                </a:solidFill>
                <a:latin typeface="Consolas"/>
              </a:defRPr>
            </a:pPr>
            <a:r>
              <a:t>python -m serial.tools.list_ports</a:t>
            </a:r>
          </a:p>
          <a:p>
            <a:pPr>
              <a:spcAft>
                <a:spcPts val="1200"/>
              </a:spcAft>
              <a:defRPr sz="1500" b="0">
                <a:solidFill>
                  <a:srgbClr val="147D92"/>
                </a:solidFill>
                <a:latin typeface="Consolas"/>
              </a:defRPr>
            </a:pPr>
            <a:r>
              <a:t>python rekam_serial.py --port COM7 --subject P01 --session S01 --label stepping_in_place</a:t>
            </a:r>
          </a:p>
        </p:txBody>
      </p:sp>
      <p:sp>
        <p:nvSpPr>
          <p:cNvPr id="6" name="TextBox 5"/>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05 • Panduan lengkap: lab/README.md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Lab 5 • Periksa tiga berkas hasil</a:t>
            </a:r>
          </a:p>
        </p:txBody>
      </p:sp>
      <p:sp>
        <p:nvSpPr>
          <p:cNvPr id="4" name="TextBox 3"/>
          <p:cNvSpPr txBox="1"/>
          <p:nvPr/>
        </p:nvSpPr>
        <p:spPr>
          <a:xfrm>
            <a:off x="640080" y="1965960"/>
            <a:ext cx="10789920" cy="4023360"/>
          </a:xfrm>
          <a:prstGeom prst="rect">
            <a:avLst/>
          </a:prstGeom>
          <a:noFill/>
        </p:spPr>
        <p:txBody>
          <a:bodyPr wrap="square" lIns="0" rIns="0" tIns="0" bIns="0">
            <a:spAutoFit/>
          </a:bodyPr>
          <a:lstStyle/>
          <a:p>
            <a:pPr>
              <a:spcAft>
                <a:spcPts val="1200"/>
              </a:spcAft>
              <a:defRPr sz="2500" b="0">
                <a:solidFill>
                  <a:srgbClr val="162C40"/>
                </a:solidFill>
                <a:latin typeface="Aptos"/>
              </a:defRPr>
            </a:pPr>
            <a:r>
              <a:t>• *.csv: 23 detik penuh, enam kanal + timestamp.</a:t>
            </a:r>
          </a:p>
          <a:p>
            <a:pPr>
              <a:spcAft>
                <a:spcPts val="1200"/>
              </a:spcAft>
              <a:defRPr sz="2500" b="0">
                <a:solidFill>
                  <a:srgbClr val="162C40"/>
                </a:solidFill>
                <a:latin typeface="Aptos"/>
              </a:defRPr>
            </a:pPr>
            <a:r>
              <a:t>• *.activity.csv: 20 detik aktivitas, hanya tiga kanal akselerasi.</a:t>
            </a:r>
          </a:p>
          <a:p>
            <a:pPr>
              <a:spcAft>
                <a:spcPts val="1200"/>
              </a:spcAft>
              <a:defRPr sz="2500" b="0">
                <a:solidFill>
                  <a:srgbClr val="162C40"/>
                </a:solidFill>
                <a:latin typeface="Aptos"/>
              </a:defRPr>
            </a:pPr>
            <a:r>
              <a:t>• *.json: subjek, sesi, label, posisi, dan kualitas sampling.</a:t>
            </a:r>
          </a:p>
          <a:p>
            <a:pPr>
              <a:spcAft>
                <a:spcPts val="1200"/>
              </a:spcAft>
              <a:defRPr sz="2500" b="0">
                <a:solidFill>
                  <a:srgbClr val="162C40"/>
                </a:solidFill>
                <a:latin typeface="Aptos"/>
              </a:defRPr>
            </a:pPr>
            <a:r>
              <a:t>• Isi reference_steps sesuai pengamat; baseline tidak ikut dihitung.</a:t>
            </a:r>
          </a:p>
        </p:txBody>
      </p:sp>
      <p:sp>
        <p:nvSpPr>
          <p:cNvPr id="5" name="TextBox 4"/>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06 • Panduan lengkap: lab/README.md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Lab 6 • Plot sinyal dan jalankan peak detector</a:t>
            </a:r>
          </a:p>
        </p:txBody>
      </p:sp>
      <p:sp>
        <p:nvSpPr>
          <p:cNvPr id="4" name="TextBox 3"/>
          <p:cNvSpPr txBox="1"/>
          <p:nvPr/>
        </p:nvSpPr>
        <p:spPr>
          <a:xfrm>
            <a:off x="594360" y="1828800"/>
            <a:ext cx="10881360" cy="2240280"/>
          </a:xfrm>
          <a:prstGeom prst="rect">
            <a:avLst/>
          </a:prstGeom>
          <a:noFill/>
        </p:spPr>
        <p:txBody>
          <a:bodyPr wrap="square" lIns="0" rIns="0" tIns="0" bIns="0">
            <a:spAutoFit/>
          </a:bodyPr>
          <a:lstStyle/>
          <a:p>
            <a:pPr>
              <a:spcAft>
                <a:spcPts val="1200"/>
              </a:spcAft>
              <a:defRPr sz="2000" b="0">
                <a:solidFill>
                  <a:srgbClr val="162C40"/>
                </a:solidFill>
                <a:latin typeface="Aptos"/>
              </a:defRPr>
            </a:pPr>
            <a:r>
              <a:t>• Gunakan CSV mentah yang masih memiliki baseline.</a:t>
            </a:r>
          </a:p>
          <a:p>
            <a:pPr>
              <a:spcAft>
                <a:spcPts val="1200"/>
              </a:spcAft>
              <a:defRPr sz="2000" b="0">
                <a:solidFill>
                  <a:srgbClr val="162C40"/>
                </a:solidFill>
                <a:latin typeface="Aptos"/>
              </a:defRPr>
            </a:pPr>
            <a:r>
              <a:t>• Median baseline → magnitude → moving average lima sampel.</a:t>
            </a:r>
          </a:p>
          <a:p>
            <a:pPr>
              <a:spcAft>
                <a:spcPts val="1200"/>
              </a:spcAft>
              <a:defRPr sz="2000" b="0">
                <a:solidFill>
                  <a:srgbClr val="162C40"/>
                </a:solidFill>
                <a:latin typeface="Aptos"/>
              </a:defRPr>
            </a:pPr>
            <a:r>
              <a:t>• Awal: T_high=1,2; T_low=0,3 m/s²; τ_min=0,30 detik.</a:t>
            </a:r>
          </a:p>
          <a:p>
            <a:pPr>
              <a:spcAft>
                <a:spcPts val="1200"/>
              </a:spcAft>
              <a:defRPr sz="2000" b="0">
                <a:solidFill>
                  <a:srgbClr val="162C40"/>
                </a:solidFill>
                <a:latin typeface="Aptos"/>
              </a:defRPr>
            </a:pPr>
            <a:r>
              <a:t>• Buka *.plot.png dan *.hasil.json; tandai puncak salah atau hilang.</a:t>
            </a:r>
          </a:p>
        </p:txBody>
      </p:sp>
      <p:sp>
        <p:nvSpPr>
          <p:cNvPr id="5" name="TextBox 4"/>
          <p:cNvSpPr txBox="1"/>
          <p:nvPr/>
        </p:nvSpPr>
        <p:spPr>
          <a:xfrm>
            <a:off x="731520" y="4206240"/>
            <a:ext cx="10881360" cy="2103120"/>
          </a:xfrm>
          <a:prstGeom prst="rect">
            <a:avLst/>
          </a:prstGeom>
          <a:noFill/>
        </p:spPr>
        <p:txBody>
          <a:bodyPr wrap="square" lIns="0" rIns="0" tIns="0" bIns="0">
            <a:spAutoFit/>
          </a:bodyPr>
          <a:lstStyle/>
          <a:p>
            <a:pPr>
              <a:spcAft>
                <a:spcPts val="1200"/>
              </a:spcAft>
              <a:defRPr sz="1500" b="0">
                <a:solidFill>
                  <a:srgbClr val="147D92"/>
                </a:solidFill>
                <a:latin typeface="Consolas"/>
              </a:defRPr>
            </a:pPr>
            <a:r>
              <a:t>python analisis_langkah.py rekaman/stepping_in_place_P01_S01.csv --reference 40</a:t>
            </a:r>
          </a:p>
          <a:p>
            <a:pPr>
              <a:spcAft>
                <a:spcPts val="1200"/>
              </a:spcAft>
              <a:defRPr sz="1500" b="0">
                <a:solidFill>
                  <a:srgbClr val="147D92"/>
                </a:solidFill>
                <a:latin typeface="Consolas"/>
              </a:defRPr>
            </a:pPr>
          </a:p>
          <a:p>
            <a:pPr>
              <a:spcAft>
                <a:spcPts val="1200"/>
              </a:spcAft>
              <a:defRPr sz="1500" b="0">
                <a:solidFill>
                  <a:srgbClr val="147D92"/>
                </a:solidFill>
                <a:latin typeface="Consolas"/>
              </a:defRPr>
            </a:pPr>
            <a:r>
              <a:t># Setelah tuning pada data latihan:</a:t>
            </a:r>
          </a:p>
          <a:p>
            <a:pPr>
              <a:spcAft>
                <a:spcPts val="1200"/>
              </a:spcAft>
              <a:defRPr sz="1500" b="0">
                <a:solidFill>
                  <a:srgbClr val="147D92"/>
                </a:solidFill>
                <a:latin typeface="Consolas"/>
              </a:defRPr>
            </a:pPr>
            <a:r>
              <a:t># tambahkan --high 1.8 --min-interval 0.4</a:t>
            </a:r>
          </a:p>
        </p:txBody>
      </p:sp>
      <p:sp>
        <p:nvSpPr>
          <p:cNvPr id="6" name="TextBox 5"/>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07 • Panduan lengkap: lab/README.md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Lab 7 • Uji lima kondisi, ulangi tiga kali</a:t>
            </a:r>
          </a:p>
        </p:txBody>
      </p:sp>
      <p:sp>
        <p:nvSpPr>
          <p:cNvPr id="4" name="TextBox 3"/>
          <p:cNvSpPr txBox="1"/>
          <p:nvPr/>
        </p:nvSpPr>
        <p:spPr>
          <a:xfrm>
            <a:off x="640080" y="1965960"/>
            <a:ext cx="10789920" cy="4023360"/>
          </a:xfrm>
          <a:prstGeom prst="rect">
            <a:avLst/>
          </a:prstGeom>
          <a:noFill/>
        </p:spPr>
        <p:txBody>
          <a:bodyPr wrap="square" lIns="0" rIns="0" tIns="0" bIns="0">
            <a:spAutoFit/>
          </a:bodyPr>
          <a:lstStyle/>
          <a:p>
            <a:pPr>
              <a:spcAft>
                <a:spcPts val="1200"/>
              </a:spcAft>
              <a:defRPr sz="2500" b="0">
                <a:solidFill>
                  <a:srgbClr val="162C40"/>
                </a:solidFill>
                <a:latin typeface="Aptos"/>
              </a:defRPr>
            </a:pPr>
            <a:r>
              <a:t>• Diam; stepping pelan; stepping biasa; stepping cepat.</a:t>
            </a:r>
          </a:p>
          <a:p>
            <a:pPr>
              <a:spcAft>
                <a:spcPts val="1200"/>
              </a:spcAft>
              <a:defRPr sz="2500" b="0">
                <a:solidFill>
                  <a:srgbClr val="162C40"/>
                </a:solidFill>
                <a:latin typeface="Aptos"/>
              </a:defRPr>
            </a:pPr>
            <a:r>
              <a:t>• Goyang tanpa berjalan sebagai contoh aktivitas pengganggu.</a:t>
            </a:r>
          </a:p>
          <a:p>
            <a:pPr>
              <a:spcAft>
                <a:spcPts val="1200"/>
              </a:spcAft>
              <a:defRPr sz="2500" b="0">
                <a:solidFill>
                  <a:srgbClr val="162C40"/>
                </a:solidFill>
                <a:latin typeface="Aptos"/>
              </a:defRPr>
            </a:pPr>
            <a:r>
              <a:t>• Bekukan parameter setelah tuning; uji sesi baru dan orang kedua.</a:t>
            </a:r>
          </a:p>
          <a:p>
            <a:pPr>
              <a:spcAft>
                <a:spcPts val="1200"/>
              </a:spcAft>
              <a:defRPr sz="2500" b="0">
                <a:solidFill>
                  <a:srgbClr val="162C40"/>
                </a:solidFill>
                <a:latin typeface="Aptos"/>
              </a:defRPr>
            </a:pPr>
            <a:r>
              <a:t>• Catat posisi sensor dan aktivitas aktual pada setiap rekaman.</a:t>
            </a:r>
          </a:p>
        </p:txBody>
      </p:sp>
      <p:sp>
        <p:nvSpPr>
          <p:cNvPr id="5" name="TextBox 4"/>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08 • Panduan lengkap: lab/README.md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Lab 8 • Apa yang harus dikumpulkan?</a:t>
            </a:r>
          </a:p>
        </p:txBody>
      </p:sp>
      <p:sp>
        <p:nvSpPr>
          <p:cNvPr id="4" name="TextBox 3"/>
          <p:cNvSpPr txBox="1"/>
          <p:nvPr/>
        </p:nvSpPr>
        <p:spPr>
          <a:xfrm>
            <a:off x="640080" y="1965960"/>
            <a:ext cx="10789920" cy="4023360"/>
          </a:xfrm>
          <a:prstGeom prst="rect">
            <a:avLst/>
          </a:prstGeom>
          <a:noFill/>
        </p:spPr>
        <p:txBody>
          <a:bodyPr wrap="square" lIns="0" rIns="0" tIns="0" bIns="0">
            <a:spAutoFit/>
          </a:bodyPr>
          <a:lstStyle/>
          <a:p>
            <a:pPr>
              <a:spcAft>
                <a:spcPts val="1200"/>
              </a:spcAft>
              <a:defRPr sz="2500" b="0">
                <a:solidFill>
                  <a:srgbClr val="162C40"/>
                </a:solidFill>
                <a:latin typeface="Aptos"/>
              </a:defRPr>
            </a:pPr>
            <a:r>
              <a:t>• CSV, metadata, dan satu grafik yang sudah diberi penjelasan.</a:t>
            </a:r>
          </a:p>
          <a:p>
            <a:pPr>
              <a:spcAft>
                <a:spcPts val="1200"/>
              </a:spcAft>
              <a:defRPr sz="2500" b="0">
                <a:solidFill>
                  <a:srgbClr val="162C40"/>
                </a:solidFill>
                <a:latin typeface="Aptos"/>
              </a:defRPr>
            </a:pPr>
            <a:r>
              <a:t>• Tabel N_ref, N_pred, error, threshold, jeda, dan filter.</a:t>
            </a:r>
          </a:p>
          <a:p>
            <a:pPr>
              <a:spcAft>
                <a:spcPts val="1200"/>
              </a:spcAft>
              <a:defRPr sz="2500" b="0">
                <a:solidFill>
                  <a:srgbClr val="162C40"/>
                </a:solidFill>
                <a:latin typeface="Aptos"/>
              </a:defRPr>
            </a:pPr>
            <a:r>
              <a:t>• Contoh kasus berhasil serta kegagalan yang ditemukan.</a:t>
            </a:r>
          </a:p>
          <a:p>
            <a:pPr>
              <a:spcAft>
                <a:spcPts val="1200"/>
              </a:spcAft>
              <a:defRPr sz="2500" b="0">
                <a:solidFill>
                  <a:srgbClr val="162C40"/>
                </a:solidFill>
                <a:latin typeface="Aptos"/>
              </a:defRPr>
            </a:pPr>
            <a:r>
              <a:t>• Kesimpulan: aturan cukup, perlu perbaikan, atau layak mencoba ML?</a:t>
            </a:r>
          </a:p>
        </p:txBody>
      </p:sp>
      <p:sp>
        <p:nvSpPr>
          <p:cNvPr id="5" name="TextBox 4"/>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09 • Panduan lengkap: lab/README.md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Bonus • Ubah logger menjadi nirkabel</a:t>
            </a:r>
          </a:p>
        </p:txBody>
      </p:sp>
      <p:sp>
        <p:nvSpPr>
          <p:cNvPr id="4" name="TextBox 3"/>
          <p:cNvSpPr txBox="1"/>
          <p:nvPr/>
        </p:nvSpPr>
        <p:spPr>
          <a:xfrm>
            <a:off x="640080" y="1965960"/>
            <a:ext cx="10789920" cy="4023360"/>
          </a:xfrm>
          <a:prstGeom prst="rect">
            <a:avLst/>
          </a:prstGeom>
          <a:noFill/>
        </p:spPr>
        <p:txBody>
          <a:bodyPr wrap="square" lIns="0" rIns="0" tIns="0" bIns="0">
            <a:spAutoFit/>
          </a:bodyPr>
          <a:lstStyle/>
          <a:p>
            <a:pPr>
              <a:spcAft>
                <a:spcPts val="1200"/>
              </a:spcAft>
              <a:defRPr sz="2500" b="0">
                <a:solidFill>
                  <a:srgbClr val="162C40"/>
                </a:solidFill>
                <a:latin typeface="Aptos"/>
              </a:defRPr>
            </a:pPr>
            <a:r>
              <a:t>• Referensi koneksi: Chapter_2/MQTT_Example.</a:t>
            </a:r>
          </a:p>
          <a:p>
            <a:pPr>
              <a:spcAft>
                <a:spcPts val="1200"/>
              </a:spcAft>
              <a:defRPr sz="2500" b="0">
                <a:solidFill>
                  <a:srgbClr val="162C40"/>
                </a:solidFill>
                <a:latin typeface="Aptos"/>
              </a:defRPr>
            </a:pPr>
            <a:r>
              <a:t>• Sampling → ring buffer → batch → MQTT → CSV laptop.</a:t>
            </a:r>
          </a:p>
          <a:p>
            <a:pPr>
              <a:spcAft>
                <a:spcPts val="1200"/>
              </a:spcAft>
              <a:defRPr sz="2500" b="0">
                <a:solidFill>
                  <a:srgbClr val="162C40"/>
                </a:solidFill>
                <a:latin typeface="Aptos"/>
              </a:defRPr>
            </a:pPr>
            <a:r>
              <a:t>• Tambahkan session_id, sequence, dan timestamp sensor.</a:t>
            </a:r>
          </a:p>
          <a:p>
            <a:pPr>
              <a:spcAft>
                <a:spcPts val="1200"/>
              </a:spcAft>
              <a:defRPr sz="2500" b="0">
                <a:solidFill>
                  <a:srgbClr val="162C40"/>
                </a:solidFill>
                <a:latin typeface="Aptos"/>
              </a:defRPr>
            </a:pPr>
            <a:r>
              <a:t>• Setelah logger bekerja tanpa USB, gunakan power bank.</a:t>
            </a:r>
          </a:p>
        </p:txBody>
      </p:sp>
      <p:sp>
        <p:nvSpPr>
          <p:cNvPr id="5" name="TextBox 4"/>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10 • Panduan lengkap: lab/README.md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